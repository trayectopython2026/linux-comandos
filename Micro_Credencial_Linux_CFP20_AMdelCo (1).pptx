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5679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www.instagram.com/damian_dev_web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s://www.linkedin.com/in/damian-trajster/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9692640" y="-1280160"/>
            <a:ext cx="4206240" cy="4206240"/>
          </a:xfrm>
          <a:prstGeom prst="roundRect">
            <a:avLst>
              <a:gd name="adj" fmla="val 50000"/>
            </a:avLst>
          </a:prstGeom>
          <a:solidFill>
            <a:srgbClr val="1E242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-1463040" y="4663440"/>
            <a:ext cx="3840480" cy="3840480"/>
          </a:xfrm>
          <a:prstGeom prst="roundRect">
            <a:avLst>
              <a:gd name="adj" fmla="val 50000"/>
            </a:avLst>
          </a:prstGeom>
          <a:solidFill>
            <a:srgbClr val="1E242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685800" y="502920"/>
            <a:ext cx="13716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6" name="Image 0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66928"/>
            <a:ext cx="1243584" cy="12435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331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C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CFP N°20 · CENTRO DE FORMACIÓN PROFESIONAL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697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MicroCredencial</a:t>
            </a: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4800" b="1" dirty="0">
                <a:solidFill>
                  <a:srgbClr val="8CE8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GNU/Linux: del primer arranque a la terminal, para dar tus primeros pasos como usuario y futuro profesional IT.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13232" y="5074920"/>
            <a:ext cx="2011680" cy="0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8"/>
          <p:cNvSpPr txBox="1"/>
          <p:nvPr/>
        </p:nvSpPr>
        <p:spPr>
          <a:xfrm>
            <a:off x="713232" y="5257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AMdelCo — Centro de Formación Profesional N°20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roundRect">
            <a:avLst>
              <a:gd name="adj" fmla="val 50000"/>
            </a:avLst>
          </a:prstGeom>
          <a:solidFill>
            <a:srgbClr val="1E242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TE ACOMPAÑA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960120"/>
            <a:ext cx="2798064" cy="3703320"/>
          </a:xfrm>
          <a:prstGeom prst="roundRect">
            <a:avLst>
              <a:gd name="adj" fmla="val 4575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5" name="Image 0" descr="damian_phot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4088" y="1097280"/>
            <a:ext cx="2523744" cy="34015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794760" y="10515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Hola, soy Damian Trajster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3794760" y="16916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C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Coordinador e Instructor · CFP N°20 – AMdelCo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3794760" y="21945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D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 a acompañarte en este primer recorrido por Linux, de la instalación a la terminal.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794760" y="278892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4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 Licenciado en Sistemas Computacionales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4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como Desarrollador Web y Docente IT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4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Estoy orientando mi carrera hacia DevOps &amp; Data Engineering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794760" y="4526280"/>
            <a:ext cx="3840480" cy="658368"/>
          </a:xfrm>
          <a:prstGeom prst="roundRect">
            <a:avLst>
              <a:gd name="adj" fmla="val 19444"/>
            </a:avLst>
          </a:prstGeom>
          <a:solidFill>
            <a:srgbClr val="1E2422"/>
          </a:solidFill>
          <a:ln w="12700">
            <a:solidFill>
              <a:srgbClr val="3A423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Shape 8"/>
          <p:cNvSpPr/>
          <p:nvPr/>
        </p:nvSpPr>
        <p:spPr>
          <a:xfrm>
            <a:off x="3922776" y="4654296"/>
            <a:ext cx="402336" cy="402336"/>
          </a:xfrm>
          <a:prstGeom prst="ellipse">
            <a:avLst/>
          </a:prstGeom>
          <a:solidFill>
            <a:srgbClr val="0A66C2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2" name="Image 1" descr="icon_linked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9644" y="4741164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53128" y="452628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u="sng" dirty="0">
                <a:solidFill>
                  <a:srgbClr val="8CE87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linkedin.com/in/damian-trajster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818120" y="4526280"/>
            <a:ext cx="3566160" cy="658368"/>
          </a:xfrm>
          <a:prstGeom prst="roundRect">
            <a:avLst>
              <a:gd name="adj" fmla="val 19444"/>
            </a:avLst>
          </a:prstGeom>
          <a:solidFill>
            <a:srgbClr val="1E2422"/>
          </a:solidFill>
          <a:ln w="12700">
            <a:solidFill>
              <a:srgbClr val="3A423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Shape 11"/>
          <p:cNvSpPr/>
          <p:nvPr/>
        </p:nvSpPr>
        <p:spPr>
          <a:xfrm>
            <a:off x="7946136" y="4654296"/>
            <a:ext cx="402336" cy="402336"/>
          </a:xfrm>
          <a:prstGeom prst="ellipse">
            <a:avLst/>
          </a:prstGeom>
          <a:solidFill>
            <a:srgbClr val="C13584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6" name="Image 2" descr="icon_instagr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3004" y="4741164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76488" y="45262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u="sng" dirty="0">
                <a:solidFill>
                  <a:srgbClr val="8CE87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@damian_dev_web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85800" y="5394960"/>
            <a:ext cx="10817352" cy="0"/>
          </a:xfrm>
          <a:prstGeom prst="line">
            <a:avLst/>
          </a:prstGeom>
          <a:noFill/>
          <a:ln w="12700">
            <a:solidFill>
              <a:srgbClr val="3A423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4"/>
          <p:cNvSpPr txBox="1"/>
          <p:nvPr/>
        </p:nvSpPr>
        <p:spPr>
          <a:xfrm>
            <a:off x="685800" y="557784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micro credencial forma parte del programa de formación profesional del CFP N°20 de AMdelCo.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Credencial de Linux · CFP N°20 – AMdelCo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vamos a recorrer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74920" cy="804672"/>
          </a:xfrm>
          <a:prstGeom prst="roundRect">
            <a:avLst>
              <a:gd name="adj" fmla="val 9091"/>
            </a:avLst>
          </a:prstGeom>
          <a:solidFill>
            <a:srgbClr val="F2F4F3"/>
          </a:solidFill>
          <a:ln w="12700">
            <a:solidFill>
              <a:srgbClr val="E1E5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731520" y="1751076"/>
            <a:ext cx="502920" cy="502920"/>
          </a:xfrm>
          <a:prstGeom prst="roundRect">
            <a:avLst>
              <a:gd name="adj" fmla="val 19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 txBox="1"/>
          <p:nvPr/>
        </p:nvSpPr>
        <p:spPr>
          <a:xfrm>
            <a:off x="731520" y="17510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00200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Linux y por qué usarlo?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5074920" cy="804672"/>
          </a:xfrm>
          <a:prstGeom prst="roundRect">
            <a:avLst>
              <a:gd name="adj" fmla="val 9091"/>
            </a:avLst>
          </a:prstGeom>
          <a:solidFill>
            <a:srgbClr val="F2F4F3"/>
          </a:solidFill>
          <a:ln w="12700">
            <a:solidFill>
              <a:srgbClr val="E1E5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731520" y="2692908"/>
            <a:ext cx="502920" cy="502920"/>
          </a:xfrm>
          <a:prstGeom prst="roundRect">
            <a:avLst>
              <a:gd name="adj" fmla="val 19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731520" y="26929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542032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 Linux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5074920" cy="804672"/>
          </a:xfrm>
          <a:prstGeom prst="roundRect">
            <a:avLst>
              <a:gd name="adj" fmla="val 9091"/>
            </a:avLst>
          </a:prstGeom>
          <a:solidFill>
            <a:srgbClr val="F2F4F3"/>
          </a:solidFill>
          <a:ln w="12700">
            <a:solidFill>
              <a:srgbClr val="E1E5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731520" y="3634740"/>
            <a:ext cx="502920" cy="502920"/>
          </a:xfrm>
          <a:prstGeom prst="roundRect">
            <a:avLst>
              <a:gd name="adj" fmla="val 19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 txBox="1"/>
          <p:nvPr/>
        </p:nvSpPr>
        <p:spPr>
          <a:xfrm>
            <a:off x="731520" y="36347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483864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y primeros pasos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425696"/>
            <a:ext cx="5074920" cy="804672"/>
          </a:xfrm>
          <a:prstGeom prst="roundRect">
            <a:avLst>
              <a:gd name="adj" fmla="val 9091"/>
            </a:avLst>
          </a:prstGeom>
          <a:solidFill>
            <a:srgbClr val="F2F4F3"/>
          </a:solidFill>
          <a:ln w="12700">
            <a:solidFill>
              <a:srgbClr val="E1E5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Shape 15"/>
          <p:cNvSpPr/>
          <p:nvPr/>
        </p:nvSpPr>
        <p:spPr>
          <a:xfrm>
            <a:off x="731520" y="4576572"/>
            <a:ext cx="502920" cy="502920"/>
          </a:xfrm>
          <a:prstGeom prst="roundRect">
            <a:avLst>
              <a:gd name="adj" fmla="val 19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 txBox="1"/>
          <p:nvPr/>
        </p:nvSpPr>
        <p:spPr>
          <a:xfrm>
            <a:off x="731520" y="45765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425696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básica del sistema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367528"/>
            <a:ext cx="5074920" cy="804672"/>
          </a:xfrm>
          <a:prstGeom prst="roundRect">
            <a:avLst>
              <a:gd name="adj" fmla="val 9091"/>
            </a:avLst>
          </a:prstGeom>
          <a:solidFill>
            <a:srgbClr val="F2F4F3"/>
          </a:solidFill>
          <a:ln w="12700">
            <a:solidFill>
              <a:srgbClr val="E1E5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Shape 19"/>
          <p:cNvSpPr/>
          <p:nvPr/>
        </p:nvSpPr>
        <p:spPr>
          <a:xfrm>
            <a:off x="731520" y="5518404"/>
            <a:ext cx="502920" cy="502920"/>
          </a:xfrm>
          <a:prstGeom prst="roundRect">
            <a:avLst>
              <a:gd name="adj" fmla="val 19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 txBox="1"/>
          <p:nvPr/>
        </p:nvSpPr>
        <p:spPr>
          <a:xfrm>
            <a:off x="731520" y="55184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367528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básicos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80760" y="1600200"/>
            <a:ext cx="5074920" cy="804672"/>
          </a:xfrm>
          <a:prstGeom prst="roundRect">
            <a:avLst>
              <a:gd name="adj" fmla="val 9091"/>
            </a:avLst>
          </a:prstGeom>
          <a:solidFill>
            <a:srgbClr val="F2F4F3"/>
          </a:solidFill>
          <a:ln w="12700">
            <a:solidFill>
              <a:srgbClr val="E1E5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Shape 23"/>
          <p:cNvSpPr/>
          <p:nvPr/>
        </p:nvSpPr>
        <p:spPr>
          <a:xfrm>
            <a:off x="6263640" y="1751076"/>
            <a:ext cx="502920" cy="502920"/>
          </a:xfrm>
          <a:prstGeom prst="roundRect">
            <a:avLst>
              <a:gd name="adj" fmla="val 19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 txBox="1"/>
          <p:nvPr/>
        </p:nvSpPr>
        <p:spPr>
          <a:xfrm>
            <a:off x="6263640" y="17510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1600200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 Linux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80760" y="2542032"/>
            <a:ext cx="5074920" cy="804672"/>
          </a:xfrm>
          <a:prstGeom prst="roundRect">
            <a:avLst>
              <a:gd name="adj" fmla="val 9091"/>
            </a:avLst>
          </a:prstGeom>
          <a:solidFill>
            <a:srgbClr val="F2F4F3"/>
          </a:solidFill>
          <a:ln w="12700">
            <a:solidFill>
              <a:srgbClr val="E1E5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Shape 27"/>
          <p:cNvSpPr/>
          <p:nvPr/>
        </p:nvSpPr>
        <p:spPr>
          <a:xfrm>
            <a:off x="6263640" y="2692908"/>
            <a:ext cx="502920" cy="502920"/>
          </a:xfrm>
          <a:prstGeom prst="roundRect">
            <a:avLst>
              <a:gd name="adj" fmla="val 19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 txBox="1"/>
          <p:nvPr/>
        </p:nvSpPr>
        <p:spPr>
          <a:xfrm>
            <a:off x="6263640" y="26929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2542032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Personalización y productividad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080760" y="3483864"/>
            <a:ext cx="5074920" cy="804672"/>
          </a:xfrm>
          <a:prstGeom prst="roundRect">
            <a:avLst>
              <a:gd name="adj" fmla="val 9091"/>
            </a:avLst>
          </a:prstGeom>
          <a:solidFill>
            <a:srgbClr val="F2F4F3"/>
          </a:solidFill>
          <a:ln w="12700">
            <a:solidFill>
              <a:srgbClr val="E1E5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Shape 31"/>
          <p:cNvSpPr/>
          <p:nvPr/>
        </p:nvSpPr>
        <p:spPr>
          <a:xfrm>
            <a:off x="6263640" y="3634740"/>
            <a:ext cx="502920" cy="502920"/>
          </a:xfrm>
          <a:prstGeom prst="roundRect">
            <a:avLst>
              <a:gd name="adj" fmla="val 19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4" name="Text 32"/>
          <p:cNvSpPr txBox="1"/>
          <p:nvPr/>
        </p:nvSpPr>
        <p:spPr>
          <a:xfrm>
            <a:off x="6263640" y="36347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949440" y="3483864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comunidad y el siguiente paso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080760" y="4425696"/>
            <a:ext cx="5074920" cy="804672"/>
          </a:xfrm>
          <a:prstGeom prst="roundRect">
            <a:avLst>
              <a:gd name="adj" fmla="val 9091"/>
            </a:avLst>
          </a:prstGeom>
          <a:solidFill>
            <a:srgbClr val="F2F4F3"/>
          </a:solidFill>
          <a:ln w="12700">
            <a:solidFill>
              <a:srgbClr val="E1E5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7" name="Shape 35"/>
          <p:cNvSpPr/>
          <p:nvPr/>
        </p:nvSpPr>
        <p:spPr>
          <a:xfrm>
            <a:off x="6263640" y="4576572"/>
            <a:ext cx="502920" cy="502920"/>
          </a:xfrm>
          <a:prstGeom prst="roundRect">
            <a:avLst>
              <a:gd name="adj" fmla="val 19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8" name="Text 36"/>
          <p:cNvSpPr txBox="1"/>
          <p:nvPr/>
        </p:nvSpPr>
        <p:spPr>
          <a:xfrm>
            <a:off x="6263640" y="45765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6949440" y="4425696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de archivos en Linux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Credencial de Linux · CFP N°20 – AMdelCo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19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84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 · FUNDAMENTOS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7315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Linux y por qué usarlo?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309360" cy="4434840"/>
          </a:xfrm>
          <a:prstGeom prst="roundRect">
            <a:avLst>
              <a:gd name="adj" fmla="val 1649"/>
            </a:avLst>
          </a:prstGeom>
          <a:solidFill>
            <a:srgbClr val="F2F4F3"/>
          </a:solidFill>
          <a:ln w="12700">
            <a:solidFill>
              <a:srgbClr val="E1E5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868680" y="18745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Linux?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2860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sistema operativo: el “cerebro” que hace funcionar la computadora. Sin él no se pueden abrir programas, navegar por internet ni guardar archivos.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2461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alternativa a Windows y macOS, con una gran diferencia: es libre, gratuito y construido por una comunidad enorme de personas en todo el mundo.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4160520"/>
            <a:ext cx="5669280" cy="0"/>
          </a:xfrm>
          <a:prstGeom prst="line">
            <a:avLst/>
          </a:prstGeom>
          <a:noFill/>
          <a:ln w="12700">
            <a:solidFill>
              <a:srgbClr val="E1E5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 txBox="1"/>
          <p:nvPr/>
        </p:nvSpPr>
        <p:spPr>
          <a:xfrm>
            <a:off x="868680" y="43434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poco de historia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7548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80: Richard Stallman lanza el proyecto GNU, un sistema operativo libre.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1991: Linus Torvalds crea el kernel de Linux.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combinarse ambos nace GNU/Linux, el sistema que usamos hoy.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086600" y="1600200"/>
            <a:ext cx="4553712" cy="4434840"/>
          </a:xfrm>
          <a:prstGeom prst="roundRect">
            <a:avLst>
              <a:gd name="adj" fmla="val 1649"/>
            </a:avLst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 txBox="1"/>
          <p:nvPr/>
        </p:nvSpPr>
        <p:spPr>
          <a:xfrm>
            <a:off x="7406640" y="1874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reales donde se usa Linux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406640" y="251460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 txBox="1"/>
          <p:nvPr/>
        </p:nvSpPr>
        <p:spPr>
          <a:xfrm>
            <a:off x="74066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2468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27706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los servidores web del mundo corren sobre Linux.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06640" y="356616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 txBox="1"/>
          <p:nvPr/>
        </p:nvSpPr>
        <p:spPr>
          <a:xfrm>
            <a:off x="74066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3520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Supercomputadoras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046720" y="38221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todas las supercomputadoras top del planeta usan Linux.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06640" y="461772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 txBox="1"/>
          <p:nvPr/>
        </p:nvSpPr>
        <p:spPr>
          <a:xfrm>
            <a:off x="74066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4572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48737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operativo móvil más usado se basa en el kernel Linux.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Credencial de Linux · CFP N°20 – AMdelCo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19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84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 · FUNDAMENTOS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7315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Diferencias con otros sistemas y ventajas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309360" cy="4297680"/>
          </a:xfrm>
          <a:prstGeom prst="roundRect">
            <a:avLst>
              <a:gd name="adj" fmla="val 1702"/>
            </a:avLst>
          </a:prstGeom>
          <a:solidFill>
            <a:srgbClr val="F2F4F3"/>
          </a:solidFill>
          <a:ln w="12700">
            <a:solidFill>
              <a:srgbClr val="E1E5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868680" y="19202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vs. Windows / macOS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2423160"/>
          <a:ext cx="5669280" cy="25146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/ macOS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B6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B6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Generalmente pago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B6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seguro, casi sin virus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B6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vulnerable a virus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Personalización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B6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Podés cambiar casi todo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B6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B6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Ayuda en foros y tutoriales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B6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 oficial limitado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086600" y="1691640"/>
            <a:ext cx="4553712" cy="4297680"/>
          </a:xfrm>
          <a:prstGeom prst="roundRect">
            <a:avLst>
              <a:gd name="adj" fmla="val 1702"/>
            </a:avLst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7"/>
          <p:cNvSpPr txBox="1"/>
          <p:nvPr/>
        </p:nvSpPr>
        <p:spPr>
          <a:xfrm>
            <a:off x="7406640" y="1920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 de usar Linux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406640" y="2377440"/>
            <a:ext cx="3931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4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Gratis: no necesitás pagar licencias.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4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Seguro: menos virus y mayor control.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4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Rápido: funciona bien en PCs viejas.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4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Flexible: elegís cómo se ve y qué usar.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4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aprende mucho: ideal para crecer en tecnología.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Credencial de Linux · CFP N°20 – AMdelCo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19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84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 · DISTRIBUCIONES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7315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una distro y por qué hay tantas?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309360" cy="4297680"/>
          </a:xfrm>
          <a:prstGeom prst="roundRect">
            <a:avLst>
              <a:gd name="adj" fmla="val 1702"/>
            </a:avLst>
          </a:prstGeom>
          <a:solidFill>
            <a:srgbClr val="F2F4F3"/>
          </a:solidFill>
          <a:ln w="12700">
            <a:solidFill>
              <a:srgbClr val="E1E5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868680" y="1965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una distro?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774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no es un único sistema: existen muchas versiones llamadas distribuciones (o “distros”). Cada una combina el núcleo Linux con distintos programas y configuraciones para un tipo de usuario específico.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520440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EFF6EF"/>
          </a:solidFill>
          <a:ln w="12700">
            <a:solidFill>
              <a:srgbClr val="D7E8D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1097280" y="352044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Analogía: Linux es el motor, y cada distro es un auto distinto que lo usa — algunos deportivos, otros familiares, otros más simples.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7091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existen tantas?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0749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Principiantes: fáciles de usar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Profesionales: más control y personalización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 y seguridad: enfoques específicos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86600" y="1691640"/>
            <a:ext cx="4553712" cy="4297680"/>
          </a:xfrm>
          <a:prstGeom prst="roundRect">
            <a:avLst>
              <a:gd name="adj" fmla="val 1702"/>
            </a:avLst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 txBox="1"/>
          <p:nvPr/>
        </p:nvSpPr>
        <p:spPr>
          <a:xfrm>
            <a:off x="7406640" y="219456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8CE8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500+</a:t>
            </a:r>
            <a:endParaRPr lang="en-US" sz="56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30632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distros activas existen hoy en el mundo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06640" y="3794760"/>
            <a:ext cx="3931920" cy="0"/>
          </a:xfrm>
          <a:prstGeom prst="line">
            <a:avLst/>
          </a:prstGeom>
          <a:noFill/>
          <a:ln w="12700">
            <a:solidFill>
              <a:srgbClr val="3A423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 txBox="1"/>
          <p:nvPr/>
        </p:nvSpPr>
        <p:spPr>
          <a:xfrm>
            <a:off x="7406640" y="402336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comunidad adapta Linux a sus propias necesidades: eso explica la enorme variedad de distribuciones.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Credencial de Linux · CFP N°20 – AMdelCo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19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84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 · DISTRIBUCIONES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7315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Distros para empezar y cómo elegir la tuya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724912" cy="1874520"/>
          </a:xfrm>
          <a:prstGeom prst="roundRect">
            <a:avLst>
              <a:gd name="adj" fmla="val 3902"/>
            </a:avLst>
          </a:prstGeom>
          <a:solidFill>
            <a:srgbClr val="F2F4F3"/>
          </a:solidFill>
          <a:ln w="12700">
            <a:solidFill>
              <a:srgbClr val="E1E5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6032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Ubuntu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880360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más popular. Muy fácil de usar y con gran comunidad.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1737360"/>
            <a:ext cx="2724912" cy="1874520"/>
          </a:xfrm>
          <a:prstGeom prst="roundRect">
            <a:avLst>
              <a:gd name="adj" fmla="val 3902"/>
            </a:avLst>
          </a:prstGeom>
          <a:solidFill>
            <a:srgbClr val="F2F4F3"/>
          </a:solidFill>
          <a:ln w="12700">
            <a:solidFill>
              <a:srgbClr val="E1E5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3703320" y="196596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 txBox="1"/>
          <p:nvPr/>
        </p:nvSpPr>
        <p:spPr>
          <a:xfrm>
            <a:off x="37033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256032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Mint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2880360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Parecida a Windows. Ideal si venís de ese sistema.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1737360"/>
            <a:ext cx="2724912" cy="1874520"/>
          </a:xfrm>
          <a:prstGeom prst="roundRect">
            <a:avLst>
              <a:gd name="adj" fmla="val 3902"/>
            </a:avLst>
          </a:prstGeom>
          <a:solidFill>
            <a:srgbClr val="F2F4F3"/>
          </a:solidFill>
          <a:ln w="12700">
            <a:solidFill>
              <a:srgbClr val="E1E5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 txBox="1"/>
          <p:nvPr/>
        </p:nvSpPr>
        <p:spPr>
          <a:xfrm>
            <a:off x="66294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256032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Fedora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2880360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Moderna, siempre con lo último en software.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326880" y="1737360"/>
            <a:ext cx="2724912" cy="1874520"/>
          </a:xfrm>
          <a:prstGeom prst="roundRect">
            <a:avLst>
              <a:gd name="adj" fmla="val 3902"/>
            </a:avLst>
          </a:prstGeom>
          <a:solidFill>
            <a:srgbClr val="F2F4F3"/>
          </a:solidFill>
          <a:ln w="12700">
            <a:solidFill>
              <a:srgbClr val="E1E5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Shape 20"/>
          <p:cNvSpPr/>
          <p:nvPr/>
        </p:nvSpPr>
        <p:spPr>
          <a:xfrm>
            <a:off x="9555480" y="196596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 txBox="1"/>
          <p:nvPr/>
        </p:nvSpPr>
        <p:spPr>
          <a:xfrm>
            <a:off x="95554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555480" y="256032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Zorin OS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9555480" y="2880360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Apariencia similar a Windows/macOS. Pensada para principiantes.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840480"/>
            <a:ext cx="11091672" cy="2148840"/>
          </a:xfrm>
          <a:prstGeom prst="roundRect">
            <a:avLst>
              <a:gd name="adj" fmla="val 3404"/>
            </a:avLst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 txBox="1"/>
          <p:nvPr/>
        </p:nvSpPr>
        <p:spPr>
          <a:xfrm>
            <a:off x="86868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elegir tu primera distro?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68680" y="448056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4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usaste Linux → Ubuntu o Linux Mint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4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Querés lo último en software → Fedora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4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Buscás una experiencia como Windows/macOS → Zorin OS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720840" y="4160520"/>
            <a:ext cx="0" cy="1600200"/>
          </a:xfrm>
          <a:prstGeom prst="line">
            <a:avLst/>
          </a:prstGeom>
          <a:noFill/>
          <a:ln w="12700">
            <a:solidFill>
              <a:srgbClr val="3A423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 txBox="1"/>
          <p:nvPr/>
        </p:nvSpPr>
        <p:spPr>
          <a:xfrm>
            <a:off x="6949440" y="4160520"/>
            <a:ext cx="4389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C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“Consejo Cumpi: no te preocupes demasiado, podés probar varias distros antes de decidir.”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Credencial de Linux · CFP N°20 – AMdelCo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19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84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3 · INSTALACIÓN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7315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instalar: ISO, USB y arranque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724912" cy="4160520"/>
          </a:xfrm>
          <a:prstGeom prst="roundRect">
            <a:avLst>
              <a:gd name="adj" fmla="val 2685"/>
            </a:avLst>
          </a:prstGeom>
          <a:solidFill>
            <a:srgbClr val="F2F4F3"/>
          </a:solidFill>
          <a:ln w="12700">
            <a:solidFill>
              <a:srgbClr val="E1E5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1627632" y="2057400"/>
            <a:ext cx="566928" cy="566928"/>
          </a:xfrm>
          <a:prstGeom prst="roundRect">
            <a:avLst>
              <a:gd name="adj" fmla="val 19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1627632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80360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Descargar la ISO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520440"/>
            <a:ext cx="23591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Bajá la imagen desde la web oficial de tu distro (Ubuntu, Mint, Fedora, Zorin).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0" y="1737360"/>
            <a:ext cx="2724912" cy="4160520"/>
          </a:xfrm>
          <a:prstGeom prst="roundRect">
            <a:avLst>
              <a:gd name="adj" fmla="val 2685"/>
            </a:avLst>
          </a:prstGeom>
          <a:solidFill>
            <a:srgbClr val="F2F4F3"/>
          </a:solidFill>
          <a:ln w="12700">
            <a:solidFill>
              <a:srgbClr val="E1E5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4553712" y="2057400"/>
            <a:ext cx="566928" cy="566928"/>
          </a:xfrm>
          <a:prstGeom prst="roundRect">
            <a:avLst>
              <a:gd name="adj" fmla="val 19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 txBox="1"/>
          <p:nvPr/>
        </p:nvSpPr>
        <p:spPr>
          <a:xfrm>
            <a:off x="4553712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2880360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un USB booteable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3520440"/>
            <a:ext cx="23591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Rufus o Balena Etcher: abrí el programa, elegí la ISO y el pendrive (mínimo 4 GB).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0" y="1737360"/>
            <a:ext cx="2724912" cy="4160520"/>
          </a:xfrm>
          <a:prstGeom prst="roundRect">
            <a:avLst>
              <a:gd name="adj" fmla="val 2685"/>
            </a:avLst>
          </a:prstGeom>
          <a:solidFill>
            <a:srgbClr val="F2F4F3"/>
          </a:solidFill>
          <a:ln w="12700">
            <a:solidFill>
              <a:srgbClr val="E1E5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Shape 15"/>
          <p:cNvSpPr/>
          <p:nvPr/>
        </p:nvSpPr>
        <p:spPr>
          <a:xfrm>
            <a:off x="7479792" y="2057400"/>
            <a:ext cx="566928" cy="566928"/>
          </a:xfrm>
          <a:prstGeom prst="roundRect">
            <a:avLst>
              <a:gd name="adj" fmla="val 19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 txBox="1"/>
          <p:nvPr/>
        </p:nvSpPr>
        <p:spPr>
          <a:xfrm>
            <a:off x="7479792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880360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Arrancar desde el USB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3520440"/>
            <a:ext cx="23591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Reiniciá, entrá al menú BIOS/UEFI (F2, F10, DEL o F12) y seleccioná el USB como dispositivo de arranque.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326880" y="1737360"/>
            <a:ext cx="2724912" cy="4160520"/>
          </a:xfrm>
          <a:prstGeom prst="roundRect">
            <a:avLst>
              <a:gd name="adj" fmla="val 2685"/>
            </a:avLst>
          </a:prstGeom>
          <a:solidFill>
            <a:srgbClr val="F2F4F3"/>
          </a:solidFill>
          <a:ln w="12700">
            <a:solidFill>
              <a:srgbClr val="E1E5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Shape 20"/>
          <p:cNvSpPr/>
          <p:nvPr/>
        </p:nvSpPr>
        <p:spPr>
          <a:xfrm>
            <a:off x="10405872" y="2057400"/>
            <a:ext cx="566928" cy="566928"/>
          </a:xfrm>
          <a:prstGeom prst="roundRect">
            <a:avLst>
              <a:gd name="adj" fmla="val 19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 txBox="1"/>
          <p:nvPr/>
        </p:nvSpPr>
        <p:spPr>
          <a:xfrm>
            <a:off x="10405872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509760" y="2880360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Probar sin instalar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509760" y="3520440"/>
            <a:ext cx="23591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las distros permiten “probar” el sistema desde el USB sin tocar el disco.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Credencial de Linux · CFP N°20 – AMdelCo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19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84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3 · INSTALACIÓN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7315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Instalación paso a paso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2F4F3"/>
          </a:solidFill>
          <a:ln w="12700">
            <a:solidFill>
              <a:srgbClr val="E1E5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2F4F3"/>
          </a:solidFill>
          <a:ln w="12700">
            <a:solidFill>
              <a:srgbClr val="E1E5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>
            <a:off x="868680" y="1965960"/>
            <a:ext cx="566928" cy="566928"/>
          </a:xfrm>
          <a:prstGeom prst="roundRect">
            <a:avLst>
              <a:gd name="adj" fmla="val 19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 txBox="1"/>
          <p:nvPr/>
        </p:nvSpPr>
        <p:spPr>
          <a:xfrm>
            <a:off x="86868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19202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 del sistema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2219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Elegí el idioma principal (ej: Español).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2898648"/>
            <a:ext cx="566928" cy="566928"/>
          </a:xfrm>
          <a:prstGeom prst="roundRect">
            <a:avLst>
              <a:gd name="adj" fmla="val 19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 txBox="1"/>
          <p:nvPr/>
        </p:nvSpPr>
        <p:spPr>
          <a:xfrm>
            <a:off x="86868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28529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Teclado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1546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“Español – Latinoamérica”, probando la tecla “ñ”.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680" y="3831336"/>
            <a:ext cx="566928" cy="566928"/>
          </a:xfrm>
          <a:prstGeom prst="roundRect">
            <a:avLst>
              <a:gd name="adj" fmla="val 19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 txBox="1"/>
          <p:nvPr/>
        </p:nvSpPr>
        <p:spPr>
          <a:xfrm>
            <a:off x="868680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78561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a internet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08736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Podés conectarte ahora o hacerlo después.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8680" y="4764024"/>
            <a:ext cx="566928" cy="566928"/>
          </a:xfrm>
          <a:prstGeom prst="roundRect">
            <a:avLst>
              <a:gd name="adj" fmla="val 19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 txBox="1"/>
          <p:nvPr/>
        </p:nvSpPr>
        <p:spPr>
          <a:xfrm>
            <a:off x="868680" y="47640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71830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instalación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502005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 a Windows (dual boot), borrar disco, o particionado manual.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92240" y="1965960"/>
            <a:ext cx="566928" cy="566928"/>
          </a:xfrm>
          <a:prstGeom prst="roundRect">
            <a:avLst>
              <a:gd name="adj" fmla="val 19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 txBox="1"/>
          <p:nvPr/>
        </p:nvSpPr>
        <p:spPr>
          <a:xfrm>
            <a:off x="64922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19202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horaria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22219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Elegí tu ciudad o país para configurar la hora.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2898648"/>
            <a:ext cx="566928" cy="566928"/>
          </a:xfrm>
          <a:prstGeom prst="roundRect">
            <a:avLst>
              <a:gd name="adj" fmla="val 19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9" name="Text 27"/>
          <p:cNvSpPr txBox="1"/>
          <p:nvPr/>
        </p:nvSpPr>
        <p:spPr>
          <a:xfrm>
            <a:off x="64922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28529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usuario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7223760" y="31546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Ingresá nombre, usuario y contraseña.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92240" y="3831336"/>
            <a:ext cx="566928" cy="566928"/>
          </a:xfrm>
          <a:prstGeom prst="roundRect">
            <a:avLst>
              <a:gd name="adj" fmla="val 19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 txBox="1"/>
          <p:nvPr/>
        </p:nvSpPr>
        <p:spPr>
          <a:xfrm>
            <a:off x="6492240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7223760" y="378561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7223760" y="408736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copia los archivos: entre 10 y 30 min según la PC.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92240" y="489204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EFF6EF"/>
          </a:solidFill>
          <a:ln w="12700">
            <a:solidFill>
              <a:srgbClr val="D7E8D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7" name="Text 35"/>
          <p:cNvSpPr txBox="1"/>
          <p:nvPr/>
        </p:nvSpPr>
        <p:spPr>
          <a:xfrm>
            <a:off x="6720840" y="489204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¡Al finalizar, reiniciá y ya podés usar Linux! 🚀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Credencial de Linux · CFP N°20 – AMdelCo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19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84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 · EL SISTEMA DE ARCHIVOS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7315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básica del sistema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Windows (“C:\”), en Linux todo cuelga de un directorio raíz “/”, como la base de un árbol.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6858000" cy="3072384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Carpeta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qué sirve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4CAF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/bin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Programas esenciales para todos los usuarios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4CAF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/boot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Archivos necesarios para arrancar Linux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4CAF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/home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Carpeta personal de cada usuario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4CAF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/etc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Archivos de configuración del sistema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4CAF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/lib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Librerías necesarias para programas y el sistema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4CAF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/tmp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Archivos temporales que se borran al reiniciar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4CAF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/var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Archivos que cambian con el tiempo: logs, mails, etc.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80960" y="2057400"/>
            <a:ext cx="3977640" cy="3931920"/>
          </a:xfrm>
          <a:prstGeom prst="roundRect">
            <a:avLst>
              <a:gd name="adj" fmla="val 1860"/>
            </a:avLst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6"/>
          <p:cNvSpPr txBox="1"/>
          <p:nvPr/>
        </p:nvSpPr>
        <p:spPr>
          <a:xfrm>
            <a:off x="800100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carpeta personal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26974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 tiene su carpeta dentro de /home (ej: /home/juan), con documentos, descargas, música, fotos y configuraciones personales.</a:t>
            </a:r>
            <a:endParaRPr lang="en-US" sz="1200" dirty="0"/>
          </a:p>
        </p:txBody>
      </p:sp>
      <p:sp>
        <p:nvSpPr>
          <p:cNvPr id="7" name="Shape 8"/>
          <p:cNvSpPr/>
          <p:nvPr/>
        </p:nvSpPr>
        <p:spPr>
          <a:xfrm>
            <a:off x="8001000" y="3794760"/>
            <a:ext cx="3383280" cy="0"/>
          </a:xfrm>
          <a:prstGeom prst="line">
            <a:avLst/>
          </a:prstGeom>
          <a:noFill/>
          <a:ln w="12700">
            <a:solidFill>
              <a:srgbClr val="3A423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9"/>
          <p:cNvSpPr txBox="1"/>
          <p:nvPr/>
        </p:nvSpPr>
        <p:spPr>
          <a:xfrm>
            <a:off x="8001000" y="3931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42062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4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guardes en /home no afecta al sistema: es el lugar más seguro para tus archivos.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001000" y="50749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Evitá borrar carpetas críticas del sistema (/bin, /etc, /lib): son las que lo mantienen funcionando.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Credencial de Linux · CFP N°20 – AMdelCo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19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84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 · LA TERMINAL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7315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Comandos básicos: navegar y gestionar archivos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2F4F3"/>
          </a:solidFill>
          <a:ln w="12700">
            <a:solidFill>
              <a:srgbClr val="E1E5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86868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Navegar por directorios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31720"/>
            <a:ext cx="1828800" cy="347472"/>
          </a:xfrm>
          <a:prstGeom prst="rect">
            <a:avLst/>
          </a:prstGeom>
          <a:solidFill>
            <a:srgbClr val="F2F4F3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3317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en qué carpeta estás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770632"/>
            <a:ext cx="1828800" cy="347472"/>
          </a:xfrm>
          <a:prstGeom prst="rect">
            <a:avLst/>
          </a:prstGeom>
          <a:solidFill>
            <a:srgbClr val="F2F4F3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7706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archivos y carpetas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209544"/>
            <a:ext cx="1828800" cy="347472"/>
          </a:xfrm>
          <a:prstGeom prst="rect">
            <a:avLst/>
          </a:prstGeom>
          <a:solidFill>
            <a:srgbClr val="F2F4F3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carpeta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320954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a otra carpeta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648456"/>
            <a:ext cx="1828800" cy="347472"/>
          </a:xfrm>
          <a:prstGeom prst="rect">
            <a:avLst/>
          </a:prstGeom>
          <a:solidFill>
            <a:srgbClr val="F2F4F3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..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364845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un nivel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680" y="4160520"/>
            <a:ext cx="4846320" cy="0"/>
          </a:xfrm>
          <a:prstGeom prst="line">
            <a:avLst/>
          </a:prstGeom>
          <a:noFill/>
          <a:ln w="12700">
            <a:solidFill>
              <a:srgbClr val="E1E5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 txBox="1"/>
          <p:nvPr/>
        </p:nvSpPr>
        <p:spPr>
          <a:xfrm>
            <a:off x="868680" y="42793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y gestionar archivos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645152"/>
            <a:ext cx="1828800" cy="347472"/>
          </a:xfrm>
          <a:prstGeom prst="rect">
            <a:avLst/>
          </a:prstGeom>
          <a:solidFill>
            <a:srgbClr val="F2F4F3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/ touch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2834640" y="46451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carpetas / archivos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5065776"/>
            <a:ext cx="1828800" cy="347472"/>
          </a:xfrm>
          <a:prstGeom prst="rect">
            <a:avLst/>
          </a:prstGeom>
          <a:solidFill>
            <a:srgbClr val="F2F4F3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/ mv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2834640" y="506577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/ mueve o renombra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5486400"/>
            <a:ext cx="1828800" cy="347472"/>
          </a:xfrm>
          <a:prstGeom prst="rect">
            <a:avLst/>
          </a:prstGeom>
          <a:solidFill>
            <a:srgbClr val="F2F4F3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-r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2834640" y="54864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 archivos o carpetas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1691640"/>
            <a:ext cx="5330952" cy="4297680"/>
          </a:xfrm>
          <a:prstGeom prst="roundRect">
            <a:avLst>
              <a:gd name="adj" fmla="val 1702"/>
            </a:avLst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 txBox="1"/>
          <p:nvPr/>
        </p:nvSpPr>
        <p:spPr>
          <a:xfrm>
            <a:off x="662940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 contenido de archivos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629400" y="2423160"/>
            <a:ext cx="2377440" cy="365760"/>
          </a:xfrm>
          <a:prstGeom prst="rect">
            <a:avLst/>
          </a:prstGeom>
          <a:solidFill>
            <a:srgbClr val="1E2422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CE8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archivo.txt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14400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todo el contenido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2990088"/>
            <a:ext cx="2377440" cy="365760"/>
          </a:xfrm>
          <a:prstGeom prst="rect">
            <a:avLst/>
          </a:prstGeom>
          <a:solidFill>
            <a:srgbClr val="1E2422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CE8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 archivo.txt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144000" y="2990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Desplazamiento página a página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629400" y="3557016"/>
            <a:ext cx="2377440" cy="365760"/>
          </a:xfrm>
          <a:prstGeom prst="rect">
            <a:avLst/>
          </a:prstGeom>
          <a:solidFill>
            <a:srgbClr val="1E2422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CE8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 / tail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9144000" y="35570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/ últimas 10 líneas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629400" y="4123944"/>
            <a:ext cx="2377440" cy="365760"/>
          </a:xfrm>
          <a:prstGeom prst="rect">
            <a:avLst/>
          </a:prstGeom>
          <a:solidFill>
            <a:srgbClr val="1E2422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CE8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 -f archivo.log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9144000" y="41239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logs en tiempo real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29400" y="4754880"/>
            <a:ext cx="4754880" cy="0"/>
          </a:xfrm>
          <a:prstGeom prst="line">
            <a:avLst/>
          </a:prstGeom>
          <a:noFill/>
          <a:ln w="12700">
            <a:solidFill>
              <a:srgbClr val="3A423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5" name="Text 33"/>
          <p:cNvSpPr txBox="1"/>
          <p:nvPr/>
        </p:nvSpPr>
        <p:spPr>
          <a:xfrm>
            <a:off x="6629400" y="49377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4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usá la flecha ↑ para repetir comandos anteriores y Tab para autocompletar.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Credencial de Linux · CFP N°20 – AMdelCo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19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84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 · LA TERMINAL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7315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Buscar archivos e información del sistema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2F4F3"/>
          </a:solidFill>
          <a:ln w="12700">
            <a:solidFill>
              <a:srgbClr val="E1E5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86868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Buscar y encontrar archivos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23160"/>
            <a:ext cx="2468880" cy="457200"/>
          </a:xfrm>
          <a:prstGeom prst="rect">
            <a:avLst/>
          </a:prstGeom>
          <a:solidFill>
            <a:srgbClr val="F2F4F3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/ruta -name x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un archivo en una carpeta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017520"/>
            <a:ext cx="2468880" cy="457200"/>
          </a:xfrm>
          <a:prstGeom prst="rect">
            <a:avLst/>
          </a:prstGeom>
          <a:solidFill>
            <a:srgbClr val="F2F4F3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locate archivo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rápida por base de datos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611880"/>
            <a:ext cx="2468880" cy="457200"/>
          </a:xfrm>
          <a:prstGeom prst="rect">
            <a:avLst/>
          </a:prstGeom>
          <a:solidFill>
            <a:srgbClr val="F2F4F3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"texto" archivo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611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texto dentro de un archivo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4297680"/>
            <a:ext cx="4846320" cy="1417320"/>
          </a:xfrm>
          <a:prstGeom prst="roundRect">
            <a:avLst>
              <a:gd name="adj" fmla="val 5161"/>
            </a:avLst>
          </a:prstGeom>
          <a:solidFill>
            <a:srgbClr val="EFF6EF"/>
          </a:solidFill>
          <a:ln w="12700">
            <a:solidFill>
              <a:srgbClr val="D7E8D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 txBox="1"/>
          <p:nvPr/>
        </p:nvSpPr>
        <p:spPr>
          <a:xfrm>
            <a:off x="1097280" y="429768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grep es muy útil para buscar errores o información específica dentro de logs del sistema.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1691640"/>
            <a:ext cx="5330952" cy="4297680"/>
          </a:xfrm>
          <a:prstGeom prst="roundRect">
            <a:avLst>
              <a:gd name="adj" fmla="val 1702"/>
            </a:avLst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 txBox="1"/>
          <p:nvPr/>
        </p:nvSpPr>
        <p:spPr>
          <a:xfrm>
            <a:off x="662940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Información del sistema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2423160"/>
            <a:ext cx="1828800" cy="411480"/>
          </a:xfrm>
          <a:prstGeom prst="rect">
            <a:avLst/>
          </a:prstGeom>
          <a:solidFill>
            <a:srgbClr val="1E2422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CE8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-h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0" y="2423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disponible en los discos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2971800"/>
            <a:ext cx="1828800" cy="411480"/>
          </a:xfrm>
          <a:prstGeom prst="rect">
            <a:avLst/>
          </a:prstGeom>
          <a:solidFill>
            <a:srgbClr val="1E2422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CE8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 -h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0" y="2971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RAM disponible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3520440"/>
            <a:ext cx="1828800" cy="411480"/>
          </a:xfrm>
          <a:prstGeom prst="rect">
            <a:avLst/>
          </a:prstGeom>
          <a:solidFill>
            <a:srgbClr val="1E2422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CE8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uname -a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0" y="3520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del sistema y kernel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4069080"/>
            <a:ext cx="1828800" cy="411480"/>
          </a:xfrm>
          <a:prstGeom prst="rect">
            <a:avLst/>
          </a:prstGeom>
          <a:solidFill>
            <a:srgbClr val="1E2422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CE8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595360" y="4069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activos y uso de CPU/RAM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629400" y="4709160"/>
            <a:ext cx="4754880" cy="0"/>
          </a:xfrm>
          <a:prstGeom prst="line">
            <a:avLst/>
          </a:prstGeom>
          <a:noFill/>
          <a:ln w="12700">
            <a:solidFill>
              <a:srgbClr val="3A423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 txBox="1"/>
          <p:nvPr/>
        </p:nvSpPr>
        <p:spPr>
          <a:xfrm>
            <a:off x="6629400" y="48920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comandos ayudan a diagnosticar problemas y conocer tu computadora sin herramientas gráficas.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Credencial de Linux · CFP N°20 – AMdelCo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19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84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6 · INSTALAR PROGRAMAS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7315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en Linux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806440" cy="4297680"/>
          </a:xfrm>
          <a:prstGeom prst="roundRect">
            <a:avLst>
              <a:gd name="adj" fmla="val 1702"/>
            </a:avLst>
          </a:prstGeom>
          <a:solidFill>
            <a:srgbClr val="F2F4F3"/>
          </a:solidFill>
          <a:ln w="12700">
            <a:solidFill>
              <a:srgbClr val="E1E5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868680" y="1920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Gestores de paquetes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31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/ Mint / Zorin usan apt. RedHat / Fedora usa dnf.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278892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1097280" y="29718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8CE8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update
sudo apt install vlc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2062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usá siempre sudo, porque instalar software requiere permisos de administrador.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4892040"/>
            <a:ext cx="5212080" cy="0"/>
          </a:xfrm>
          <a:prstGeom prst="line">
            <a:avLst/>
          </a:prstGeom>
          <a:noFill/>
          <a:ln w="12700">
            <a:solidFill>
              <a:srgbClr val="E1E5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 txBox="1"/>
          <p:nvPr/>
        </p:nvSpPr>
        <p:spPr>
          <a:xfrm>
            <a:off x="868680" y="5029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Tiendas gráficas de software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53949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Software Center, KDE Discover, GNOME Software: buscá un programa y hacé clic en Instalar, como en un celular.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629400" y="1691640"/>
            <a:ext cx="5029200" cy="4297680"/>
          </a:xfrm>
          <a:prstGeom prst="roundRect">
            <a:avLst>
              <a:gd name="adj" fmla="val 1702"/>
            </a:avLst>
          </a:prstGeom>
          <a:solidFill>
            <a:srgbClr val="EFF6EF"/>
          </a:solidFill>
          <a:ln w="12700">
            <a:solidFill>
              <a:srgbClr val="D7E8D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6949440" y="1965960"/>
            <a:ext cx="502920" cy="50292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 txBox="1"/>
          <p:nvPr/>
        </p:nvSpPr>
        <p:spPr>
          <a:xfrm>
            <a:off x="69494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635240" y="1965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terminal tenés control total.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949440" y="2651760"/>
            <a:ext cx="502920" cy="50292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 txBox="1"/>
          <p:nvPr/>
        </p:nvSpPr>
        <p:spPr>
          <a:xfrm>
            <a:off x="69494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635240" y="26517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las tiendas gráficas es rápido y amigable para empezar.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949440" y="3566160"/>
            <a:ext cx="4480560" cy="0"/>
          </a:xfrm>
          <a:prstGeom prst="line">
            <a:avLst/>
          </a:prstGeom>
          <a:noFill/>
          <a:ln w="12700">
            <a:solidFill>
              <a:srgbClr val="D7E8D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 txBox="1"/>
          <p:nvPr/>
        </p:nvSpPr>
        <p:spPr>
          <a:xfrm>
            <a:off x="6949440" y="379476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Consejo: usá la terminal para practicar, pero no dudes en aprovechar las tiendas gráficas si querés comodidad.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Credencial de Linux · CFP N°20 – AMdelCo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19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84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7 · A TU MEDIDA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7315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Personalización y productividad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611880" cy="4251960"/>
          </a:xfrm>
          <a:prstGeom prst="roundRect">
            <a:avLst>
              <a:gd name="adj" fmla="val 2025"/>
            </a:avLst>
          </a:prstGeom>
          <a:solidFill>
            <a:srgbClr val="F2F4F3"/>
          </a:solidFill>
          <a:ln w="12700">
            <a:solidFill>
              <a:srgbClr val="E1E5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06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Cambiar apariencia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6324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Temas: colores, botones, estilo de ventanas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Íconos: aspecto de carpetas y programas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Fondos de pantalla dinámicos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61688" y="1737360"/>
            <a:ext cx="3611880" cy="4251960"/>
          </a:xfrm>
          <a:prstGeom prst="roundRect">
            <a:avLst>
              <a:gd name="adj" fmla="val 2025"/>
            </a:avLst>
          </a:prstGeom>
          <a:solidFill>
            <a:srgbClr val="F2F4F3"/>
          </a:solidFill>
          <a:ln w="12700">
            <a:solidFill>
              <a:srgbClr val="E1E5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4636008" y="201168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 txBox="1"/>
          <p:nvPr/>
        </p:nvSpPr>
        <p:spPr>
          <a:xfrm>
            <a:off x="463600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36008" y="2606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útiles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36008" y="306324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Kate: editores de texto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Flameshot: capturas avanzadas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Timeshift: copias de seguridad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74736" y="1737360"/>
            <a:ext cx="3611880" cy="4251960"/>
          </a:xfrm>
          <a:prstGeom prst="roundRect">
            <a:avLst>
              <a:gd name="adj" fmla="val 2025"/>
            </a:avLst>
          </a:prstGeom>
          <a:solidFill>
            <a:srgbClr val="F2F4F3"/>
          </a:solidFill>
          <a:ln w="12700">
            <a:solidFill>
              <a:srgbClr val="E1E5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Shape 15"/>
          <p:cNvSpPr/>
          <p:nvPr/>
        </p:nvSpPr>
        <p:spPr>
          <a:xfrm>
            <a:off x="8449056" y="201168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 txBox="1"/>
          <p:nvPr/>
        </p:nvSpPr>
        <p:spPr>
          <a:xfrm>
            <a:off x="844905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449056" y="2606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Atajos y tips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449056" y="306324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Ctrl+Alt+T: abrir terminal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Alt+Tab: cambiar de ventana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Super+L: bloquear pantalla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Credencial de Linux · CFP N°20 – AMdelCo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19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84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8 · SEGUIR CRECIENDO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7315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comunidad y el siguiente paso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86868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fuerza de la comunidad Linux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774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otros sistemas, en Linux nunca estás solo: hay una comunidad mundial de usuarios y desarrolladores siempre dispuesta a ayudar.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4290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4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Foros y grupos donde resolver dudas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4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oficial de cada distribución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4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Blogs y canales de YouTube con tutoriales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4983480"/>
            <a:ext cx="4846320" cy="0"/>
          </a:xfrm>
          <a:prstGeom prst="line">
            <a:avLst/>
          </a:prstGeom>
          <a:noFill/>
          <a:ln w="12700">
            <a:solidFill>
              <a:srgbClr val="3A423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 txBox="1"/>
          <p:nvPr/>
        </p:nvSpPr>
        <p:spPr>
          <a:xfrm>
            <a:off x="868680" y="51206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C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los problemas que tengas ya los tuvo alguien antes, y la solución ya está publicada en la comunidad.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1691640"/>
            <a:ext cx="5330952" cy="4297680"/>
          </a:xfrm>
          <a:prstGeom prst="roundRect">
            <a:avLst>
              <a:gd name="adj" fmla="val 1702"/>
            </a:avLst>
          </a:prstGeom>
          <a:solidFill>
            <a:srgbClr val="F2F4F3"/>
          </a:solidFill>
          <a:ln w="12700">
            <a:solidFill>
              <a:srgbClr val="E1E5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 txBox="1"/>
          <p:nvPr/>
        </p:nvSpPr>
        <p:spPr>
          <a:xfrm>
            <a:off x="6629400" y="1965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Foros y documentación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2860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Forums, Fedora Forums, Arch Wiki y la documentación oficial de cada distro.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3017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y grupos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33375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Comunidades en Reddit (r/linux), Telegram y grupos como “Linux en Español”.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4069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y blogs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43891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 de tutoriales en español y blogs como OMG! Ubuntu! o Linux Adictos.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29400" y="5074920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EFF6EF"/>
          </a:solidFill>
          <a:ln w="12700">
            <a:solidFill>
              <a:srgbClr val="D7E8D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 txBox="1"/>
          <p:nvPr/>
        </p:nvSpPr>
        <p:spPr>
          <a:xfrm>
            <a:off x="6812280" y="50749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Consejo: no tengas miedo de participar. Preguntar y aportar son parte del crecimiento.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Credencial de Linux · CFP N°20 – AMdelCo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19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84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9 · PERMISOS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7315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Permisos de archivos: formato octal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806440" cy="4297680"/>
          </a:xfrm>
          <a:prstGeom prst="roundRect">
            <a:avLst>
              <a:gd name="adj" fmla="val 1702"/>
            </a:avLst>
          </a:prstGeom>
          <a:solidFill>
            <a:srgbClr val="F2F4F3"/>
          </a:solidFill>
          <a:ln w="12700">
            <a:solidFill>
              <a:srgbClr val="E1E5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868680" y="1920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¿Quién recibe permisos?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317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archivo y directorio en GNU/Linux tiene permisos que definen quién puede leer (r), escribir (w) y ejecutar (x). Se aplican a tres categorías: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2004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(u): el propietario del archivo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(g): los usuarios del grupo asignado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(o): todos los demás usuarios del sistema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4343400"/>
            <a:ext cx="5212080" cy="0"/>
          </a:xfrm>
          <a:prstGeom prst="line">
            <a:avLst/>
          </a:prstGeom>
          <a:noFill/>
          <a:ln w="12700">
            <a:solidFill>
              <a:srgbClr val="E1E5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 txBox="1"/>
          <p:nvPr/>
        </p:nvSpPr>
        <p:spPr>
          <a:xfrm>
            <a:off x="868680" y="45262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formato octal representa los permisos con números, basados en el valor binario de cada permiso.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29400" y="1691640"/>
            <a:ext cx="5029200" cy="4297680"/>
          </a:xfrm>
          <a:prstGeom prst="roundRect">
            <a:avLst>
              <a:gd name="adj" fmla="val 1702"/>
            </a:avLst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 txBox="1"/>
          <p:nvPr/>
        </p:nvSpPr>
        <p:spPr>
          <a:xfrm>
            <a:off x="6949440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de cada permiso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49440" y="246888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 txBox="1"/>
          <p:nvPr/>
        </p:nvSpPr>
        <p:spPr>
          <a:xfrm>
            <a:off x="6949440" y="2468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28163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binario 100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921240" y="24688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CE8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6949440" y="333756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 txBox="1"/>
          <p:nvPr/>
        </p:nvSpPr>
        <p:spPr>
          <a:xfrm>
            <a:off x="6949440" y="3337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3337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Escritura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3685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binario 010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921240" y="33375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CE8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6949440" y="420624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 txBox="1"/>
          <p:nvPr/>
        </p:nvSpPr>
        <p:spPr>
          <a:xfrm>
            <a:off x="6949440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680960" y="4206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680960" y="4553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binario 001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921240" y="42062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CE8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6949440" y="5120640"/>
            <a:ext cx="4389120" cy="0"/>
          </a:xfrm>
          <a:prstGeom prst="line">
            <a:avLst/>
          </a:prstGeom>
          <a:noFill/>
          <a:ln w="12700">
            <a:solidFill>
              <a:srgbClr val="3A423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 txBox="1"/>
          <p:nvPr/>
        </p:nvSpPr>
        <p:spPr>
          <a:xfrm>
            <a:off x="6949440" y="53035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de permisos (usuario, grupo, otros) se calcula sumando los valores activos.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Credencial de Linux · CFP N°20 – AMdelCo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19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84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9 · PERMISOS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7315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Todas las combinaciones posibles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45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Octal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4CAF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---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B65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F1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6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permisos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4CAF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--x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B65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F1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6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ejecución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4CAF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-w-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B65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F1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6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escritura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4CAF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-wx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B65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F1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6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Escritura y ejecución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4CAF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r--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B65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F1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6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lectura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4CAF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r-x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B65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F1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6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 y ejecución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4CAF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rw-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B65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F1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6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 y escritura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4CAF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rwx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B65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F1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6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Lectura, escritura y ejecución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EFF6EF"/>
          </a:solidFill>
          <a:ln w="12700">
            <a:solidFill>
              <a:srgbClr val="D7E8D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5"/>
          <p:cNvSpPr txBox="1"/>
          <p:nvPr/>
        </p:nvSpPr>
        <p:spPr>
          <a:xfrm>
            <a:off x="777240" y="56235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el número octal de cada categoría (usuario, grupo, otros) es la suma de los permisos activos: r=4 + w=2 + x=1.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Credencial de Linux · CFP N°20 – AMdelCo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19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84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9 · PERMISOS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7315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práctico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280160" y="731520"/>
            <a:ext cx="7315200" cy="548640"/>
          </a:xfrm>
          <a:prstGeom prst="rect">
            <a:avLst/>
          </a:prstGeom>
          <a:solidFill>
            <a:srgbClr val="14181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1280160" y="7315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práctico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4937760" cy="914400"/>
          </a:xfrm>
          <a:prstGeom prst="roundRect">
            <a:avLst>
              <a:gd name="adj" fmla="val 14000"/>
            </a:avLst>
          </a:prstGeom>
          <a:solidFill>
            <a:srgbClr val="1E2422"/>
          </a:solidFill>
          <a:ln w="12700">
            <a:solidFill>
              <a:srgbClr val="3A423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 txBox="1"/>
          <p:nvPr/>
        </p:nvSpPr>
        <p:spPr>
          <a:xfrm>
            <a:off x="548640" y="1600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C9D2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</a:t>
            </a:r>
            <a:r>
              <a:rPr lang="en-US" sz="2600" b="1" dirty="0">
                <a:solidFill>
                  <a:srgbClr val="8CE8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754</a:t>
            </a:r>
            <a:r>
              <a:rPr lang="en-US" sz="2600" dirty="0">
                <a:solidFill>
                  <a:srgbClr val="C9D2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archivo.txt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3566160" cy="3246120"/>
          </a:xfrm>
          <a:prstGeom prst="roundRect">
            <a:avLst>
              <a:gd name="adj" fmla="val 3380"/>
            </a:avLst>
          </a:prstGeom>
          <a:solidFill>
            <a:srgbClr val="1E2422"/>
          </a:solidFill>
          <a:ln w="12700">
            <a:solidFill>
              <a:srgbClr val="3A423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1828800" y="3063240"/>
            <a:ext cx="1005840" cy="100584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 txBox="1"/>
          <p:nvPr/>
        </p:nvSpPr>
        <p:spPr>
          <a:xfrm>
            <a:off x="1828800" y="3063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251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Dueño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663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CE8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rwx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212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+ Escritura + Ejecución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34840" y="2743200"/>
            <a:ext cx="3566160" cy="3246120"/>
          </a:xfrm>
          <a:prstGeom prst="roundRect">
            <a:avLst>
              <a:gd name="adj" fmla="val 3380"/>
            </a:avLst>
          </a:prstGeom>
          <a:solidFill>
            <a:srgbClr val="1E2422"/>
          </a:solidFill>
          <a:ln w="12700">
            <a:solidFill>
              <a:srgbClr val="3A423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Shape 15"/>
          <p:cNvSpPr/>
          <p:nvPr/>
        </p:nvSpPr>
        <p:spPr>
          <a:xfrm>
            <a:off x="5715000" y="3063240"/>
            <a:ext cx="1005840" cy="100584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 txBox="1"/>
          <p:nvPr/>
        </p:nvSpPr>
        <p:spPr>
          <a:xfrm>
            <a:off x="5715000" y="3063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4251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4663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CE8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r-x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4709160" y="5212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+ Ejecución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321040" y="2743200"/>
            <a:ext cx="3566160" cy="3246120"/>
          </a:xfrm>
          <a:prstGeom prst="roundRect">
            <a:avLst>
              <a:gd name="adj" fmla="val 3380"/>
            </a:avLst>
          </a:prstGeom>
          <a:solidFill>
            <a:srgbClr val="1E2422"/>
          </a:solidFill>
          <a:ln w="12700">
            <a:solidFill>
              <a:srgbClr val="3A423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Shape 21"/>
          <p:cNvSpPr/>
          <p:nvPr/>
        </p:nvSpPr>
        <p:spPr>
          <a:xfrm>
            <a:off x="9601200" y="3063240"/>
            <a:ext cx="1005840" cy="100584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 txBox="1"/>
          <p:nvPr/>
        </p:nvSpPr>
        <p:spPr>
          <a:xfrm>
            <a:off x="9601200" y="3063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8503920" y="4251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Otros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503920" y="4663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CE8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r--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595360" y="5212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lectura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Credencial de Linux · CFP N°20 – AMdelCo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206240" cy="4206240"/>
          </a:xfrm>
          <a:prstGeom prst="roundRect">
            <a:avLst>
              <a:gd name="adj" fmla="val 50000"/>
            </a:avLst>
          </a:prstGeom>
          <a:solidFill>
            <a:srgbClr val="1E242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9875520" y="4206240"/>
            <a:ext cx="4023360" cy="4023360"/>
          </a:xfrm>
          <a:prstGeom prst="roundRect">
            <a:avLst>
              <a:gd name="adj" fmla="val 50000"/>
            </a:avLst>
          </a:prstGeom>
          <a:solidFill>
            <a:srgbClr val="1E242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4956048" y="1371600"/>
            <a:ext cx="13716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5" name="Image 0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056" y="1435608"/>
            <a:ext cx="1243584" cy="12435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301752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0" y="379476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C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Credencial de Linux · CFP N°20 – AMdelCo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286000" y="4389120"/>
            <a:ext cx="7616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9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es libertad y comunidad: seguí explorando, practicando y compartiendo lo que aprendas.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2212</Words>
  <Application>Microsoft Office PowerPoint</Application>
  <PresentationFormat>Widescreen</PresentationFormat>
  <Paragraphs>411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Damian kio Trt</cp:lastModifiedBy>
  <cp:revision>2</cp:revision>
  <dcterms:created xsi:type="dcterms:W3CDTF">2026-09-16T02:01:08Z</dcterms:created>
  <dcterms:modified xsi:type="dcterms:W3CDTF">2026-09-16T02:04:30Z</dcterms:modified>
</cp:coreProperties>
</file>